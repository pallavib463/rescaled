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78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245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"/>
            <a:ext cx="1219169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146304"/>
            <a:ext cx="411480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27432" rtlCol="0" anchor="ctr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JACKFRUIT PROBLEM REVIEW | CORE CHALLENGE &amp; 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895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rPr dirty="0"/>
              <a:t>1. Problem Statement: Scale-Dependence in Zero-Heavy Uplift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Why arbitrary currency/unit scaling distorts CATE targeting rankings under non-linear transformations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201168"/>
            <a:ext cx="9144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 /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35204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33856" y="1527048"/>
            <a:ext cx="2194560" cy="2560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tlCol="0" anchor="ctr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rPr dirty="0"/>
              <a:t>01 | REAL-WORLD DILEMMA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65376"/>
            <a:ext cx="3154680" cy="37779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The Zero-Heavy Spend Challenge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F172A"/>
                </a:solidFill>
              </a:rPr>
              <a:t>• Massive Zero Inflation: </a:t>
            </a:r>
            <a:r>
              <a:rPr sz="1200" dirty="0">
                <a:solidFill>
                  <a:srgbClr val="475569"/>
                </a:solidFill>
              </a:rPr>
              <a:t>Commercial outcomes Y &gt;= 0 in marketing, healthcare, and ad-tech feature 90-99% exact zeros with extreme heavy-tailed spending.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F172A"/>
                </a:solidFill>
              </a:rPr>
              <a:t>• The Universal Heuristic: </a:t>
            </a:r>
            <a:r>
              <a:rPr sz="1200" dirty="0">
                <a:solidFill>
                  <a:srgbClr val="475569"/>
                </a:solidFill>
              </a:rPr>
              <a:t>Practitioners routinely apply concave transformations g(y) = log(1 + a*y) or </a:t>
            </a:r>
            <a:r>
              <a:rPr sz="1200" dirty="0" err="1">
                <a:solidFill>
                  <a:srgbClr val="475569"/>
                </a:solidFill>
              </a:rPr>
              <a:t>asinh</a:t>
            </a:r>
            <a:r>
              <a:rPr sz="1200" dirty="0">
                <a:solidFill>
                  <a:srgbClr val="475569"/>
                </a:solidFill>
              </a:rPr>
              <a:t>(a*y) to stabilize variance and prevent extreme outliers from dominating squared error loss.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F172A"/>
                </a:solidFill>
              </a:rPr>
              <a:t>• The Arbitrary Scale Trap: </a:t>
            </a:r>
            <a:r>
              <a:rPr sz="1200" dirty="0">
                <a:solidFill>
                  <a:srgbClr val="475569"/>
                </a:solidFill>
              </a:rPr>
              <a:t>The tuning parameter 'a' reflects arbitrary reporting units (a=1 for $, a=0.01 for cents, a=1000 for thousands). Machine learning pipelines treat 'a' as an innocuous cosmetic choice.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F172A"/>
                </a:solidFill>
              </a:rPr>
              <a:t>• The Core Dilemma: </a:t>
            </a:r>
            <a:r>
              <a:rPr sz="1200" dirty="0">
                <a:solidFill>
                  <a:srgbClr val="475569"/>
                </a:solidFill>
              </a:rPr>
              <a:t>Uplift models prioritize customers by estimated conditional treatment effects. Does changing measurement unit 'a' secretly reorder who gets targeted?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371600"/>
            <a:ext cx="35204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05588" y="1527048"/>
            <a:ext cx="2377440" cy="25603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rPr dirty="0"/>
              <a:t>02 | THEORETICAL MECHANISM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865376"/>
            <a:ext cx="3154680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rPr dirty="0"/>
              <a:t>Chen &amp; Roth (2024) Limiting Regimes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7136" y="2176272"/>
            <a:ext cx="3154680" cy="493776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919" b="1">
                <a:solidFill>
                  <a:srgbClr val="0F172A"/>
                </a:solidFill>
                <a:latin typeface="Courier New"/>
              </a:defRPr>
            </a:pPr>
            <a:r>
              <a:t>tau_{m,a}(x) = E[log(1+aY) | 1, x] - E[log(1+aY) | 0, x]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743200"/>
            <a:ext cx="3154680" cy="27135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 dirty="0">
                <a:solidFill>
                  <a:srgbClr val="0F172A"/>
                </a:solidFill>
              </a:rPr>
              <a:t>• Asymptotic Limit a -&gt; 0 (Level Margin): </a:t>
            </a:r>
            <a:r>
              <a:rPr sz="1200" dirty="0" err="1">
                <a:solidFill>
                  <a:srgbClr val="475569"/>
                </a:solidFill>
              </a:rPr>
              <a:t>lim</a:t>
            </a:r>
            <a:r>
              <a:rPr sz="1200" dirty="0">
                <a:solidFill>
                  <a:srgbClr val="475569"/>
                </a:solidFill>
              </a:rPr>
              <a:t> (log(1+ay)/a) = y. Targets true Level Dollars: </a:t>
            </a:r>
            <a:r>
              <a:rPr sz="1200" dirty="0" err="1">
                <a:solidFill>
                  <a:srgbClr val="475569"/>
                </a:solidFill>
              </a:rPr>
              <a:t>tau_level</a:t>
            </a:r>
            <a:r>
              <a:rPr sz="1200" dirty="0">
                <a:solidFill>
                  <a:srgbClr val="475569"/>
                </a:solidFill>
              </a:rPr>
              <a:t>(x) = E[Y(1) - Y(0) | x]. Dominated by intensive margin (large spenders).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F172A"/>
                </a:solidFill>
              </a:rPr>
              <a:t>• Asymptotic Limit a -&gt; inf (Extensive Margin): </a:t>
            </a:r>
            <a:r>
              <a:rPr sz="1200" dirty="0">
                <a:solidFill>
                  <a:srgbClr val="475569"/>
                </a:solidFill>
              </a:rPr>
              <a:t>log(1+ay) = log(a)*1(y&gt;0) + log(y)*1(y&gt;0). As a -&gt; inf, targets purely Conversion Probability: P(Y(1)&gt;0|x) - P(Y(0)&gt;0|x). Intensive spend is completely ignored!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0F172A"/>
                </a:solidFill>
              </a:rPr>
              <a:t>• The Reordering Mechanism: </a:t>
            </a:r>
            <a:r>
              <a:rPr sz="1200" dirty="0">
                <a:solidFill>
                  <a:srgbClr val="475569"/>
                </a:solidFill>
              </a:rPr>
              <a:t>Whenever extensive margin (who converts) and intensive margin (how much they spend) diverge across customer segments, varying 'a' violently flips targeting rankings.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371600"/>
            <a:ext cx="35204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91372" y="1517904"/>
            <a:ext cx="2377440" cy="256032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tlCol="0" anchor="ctr"/>
          <a:lstStyle/>
          <a:p>
            <a:pPr algn="ctr">
              <a:defRPr sz="850" b="1">
                <a:solidFill>
                  <a:srgbClr val="0D9488"/>
                </a:solidFill>
              </a:defRPr>
            </a:pPr>
            <a:r>
              <a:t>03 | BUSINESS LOSS &amp; HYPOTHESES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865376"/>
            <a:ext cx="3154680" cy="4026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Targeting Turnover &amp; Hypotheses</a:t>
            </a:r>
          </a:p>
          <a:p>
            <a:pPr>
              <a:spcAft>
                <a:spcPts val="350"/>
              </a:spcAft>
            </a:pPr>
            <a:r>
              <a:rPr sz="1200" b="1" dirty="0">
                <a:solidFill>
                  <a:srgbClr val="0F172A"/>
                </a:solidFill>
              </a:rPr>
              <a:t>• 48% Customer Churn: </a:t>
            </a:r>
            <a:r>
              <a:rPr sz="1200" dirty="0">
                <a:solidFill>
                  <a:srgbClr val="475569"/>
                </a:solidFill>
              </a:rPr>
              <a:t>On the real Hillstrom trial, switching scale from dollars (a=1) to cents (a=0.01) replaces ~48% of the top 20% targeted cohort!</a:t>
            </a:r>
          </a:p>
          <a:p>
            <a:pPr>
              <a:spcAft>
                <a:spcPts val="350"/>
              </a:spcAft>
            </a:pPr>
            <a:r>
              <a:rPr sz="1200" b="1" dirty="0">
                <a:solidFill>
                  <a:srgbClr val="0F172A"/>
                </a:solidFill>
              </a:rPr>
              <a:t>• Severe Policy Regret: </a:t>
            </a:r>
            <a:r>
              <a:rPr sz="1200" dirty="0">
                <a:solidFill>
                  <a:srgbClr val="475569"/>
                </a:solidFill>
              </a:rPr>
              <a:t>Targeting misaligned customers bleeds 20-40% of potential marketing campaign revenue by chasing low-spend coupon clippers.</a:t>
            </a:r>
          </a:p>
          <a:p>
            <a:pPr>
              <a:spcAft>
                <a:spcPts val="350"/>
              </a:spcAft>
            </a:pPr>
            <a:r>
              <a:rPr sz="1200" b="1" dirty="0">
                <a:solidFill>
                  <a:srgbClr val="0F172A"/>
                </a:solidFill>
              </a:rPr>
              <a:t>• H1 (Rank Instability): </a:t>
            </a:r>
            <a:r>
              <a:rPr sz="1200" dirty="0">
                <a:solidFill>
                  <a:srgbClr val="475569"/>
                </a:solidFill>
              </a:rPr>
              <a:t>Rank stability drops precipitously under log1p when extensive and intensive margins diverge.</a:t>
            </a:r>
          </a:p>
          <a:p>
            <a:pPr>
              <a:spcAft>
                <a:spcPts val="350"/>
              </a:spcAft>
            </a:pPr>
            <a:r>
              <a:rPr sz="1200" b="1" dirty="0">
                <a:solidFill>
                  <a:srgbClr val="0F172A"/>
                </a:solidFill>
              </a:rPr>
              <a:t>• H2 (Transformation Rate): </a:t>
            </a:r>
            <a:r>
              <a:rPr sz="1200" dirty="0">
                <a:solidFill>
                  <a:srgbClr val="475569"/>
                </a:solidFill>
              </a:rPr>
              <a:t>Slow-growing concave transforms (log1p, </a:t>
            </a:r>
            <a:r>
              <a:rPr sz="1200" dirty="0" err="1">
                <a:solidFill>
                  <a:srgbClr val="475569"/>
                </a:solidFill>
              </a:rPr>
              <a:t>asinh</a:t>
            </a:r>
            <a:r>
              <a:rPr sz="1200" dirty="0">
                <a:solidFill>
                  <a:srgbClr val="475569"/>
                </a:solidFill>
              </a:rPr>
              <a:t>) destabilize far worse than power transforms (sqrt).</a:t>
            </a:r>
          </a:p>
          <a:p>
            <a:pPr>
              <a:spcAft>
                <a:spcPts val="350"/>
              </a:spcAft>
            </a:pPr>
            <a:r>
              <a:rPr sz="1200" b="1" dirty="0">
                <a:solidFill>
                  <a:srgbClr val="0F172A"/>
                </a:solidFill>
              </a:rPr>
              <a:t>• H3 (Count Equivariance): </a:t>
            </a:r>
            <a:r>
              <a:rPr sz="1200" dirty="0">
                <a:solidFill>
                  <a:srgbClr val="475569"/>
                </a:solidFill>
              </a:rPr>
              <a:t>Count-aware likelihood models (Tweedie, Hurdle) maintain strict scale-equivariance (rho = 1.000).</a:t>
            </a:r>
          </a:p>
          <a:p>
            <a:pPr>
              <a:spcAft>
                <a:spcPts val="350"/>
              </a:spcAft>
            </a:pPr>
            <a:r>
              <a:rPr sz="1200" b="1" dirty="0">
                <a:solidFill>
                  <a:srgbClr val="0F172A"/>
                </a:solidFill>
              </a:rPr>
              <a:t>• H4 (Welfare Superiority): </a:t>
            </a:r>
            <a:r>
              <a:rPr sz="1200" dirty="0">
                <a:solidFill>
                  <a:srgbClr val="475569"/>
                </a:solidFill>
              </a:rPr>
              <a:t>Count-aware models minimize empirical policy regret without ad-hoc outcome distortion.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146304"/>
            <a:ext cx="411480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27432" rtlCol="0" anchor="ctr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JACKFRUIT PROBLEM REVIEW | ENGINEERING &amp;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6636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rPr dirty="0"/>
              <a:t>2. Implementation So Far: Architecture, DGPs &amp; Rigorous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Modular causal engine, 6 synthetic DGP scenarios, real-world field trials, and 98/98 unit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201168"/>
            <a:ext cx="9144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 /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5349240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16252" y="1521229"/>
            <a:ext cx="2377440" cy="23774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ESTIMATOR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86742"/>
            <a:ext cx="4983480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172A"/>
                </a:solidFill>
                <a:latin typeface="Arial"/>
              </a:defRPr>
            </a:pPr>
            <a:r>
              <a:rPr dirty="0"/>
              <a:t>Modular Causal Estimators &amp; Count Likelihoods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Meta-Learner Framework: </a:t>
            </a:r>
            <a:r>
              <a:rPr sz="880" dirty="0">
                <a:solidFill>
                  <a:srgbClr val="475569"/>
                </a:solidFill>
              </a:rPr>
              <a:t>T-Learner and Doubly Robust (DR) Learner with out-of-fold cross-fitting (K=5) to eliminate regularization and in-sample overfitting bias.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Transform Family: </a:t>
            </a:r>
            <a:r>
              <a:rPr sz="880" dirty="0">
                <a:solidFill>
                  <a:srgbClr val="475569"/>
                </a:solidFill>
              </a:rPr>
              <a:t>identity (untransformed level), log1p (log(1+ay)), sqrt (sqrt(ay)), </a:t>
            </a:r>
            <a:r>
              <a:rPr sz="880" dirty="0" err="1">
                <a:solidFill>
                  <a:srgbClr val="475569"/>
                </a:solidFill>
              </a:rPr>
              <a:t>asinh</a:t>
            </a:r>
            <a:r>
              <a:rPr sz="880" dirty="0">
                <a:solidFill>
                  <a:srgbClr val="475569"/>
                </a:solidFill>
              </a:rPr>
              <a:t>, and non-parametric rank percentiles.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Count-Aware Native Models: </a:t>
            </a:r>
            <a:r>
              <a:rPr sz="880" dirty="0">
                <a:solidFill>
                  <a:srgbClr val="475569"/>
                </a:solidFill>
              </a:rPr>
              <a:t>Compound Poisson-Gamma (Tweedie deviance, p=1.5) natively modeling mass at zero + continuous positive spend; Two-Part Hurdle (</a:t>
            </a:r>
            <a:r>
              <a:rPr sz="880" dirty="0" err="1">
                <a:solidFill>
                  <a:srgbClr val="475569"/>
                </a:solidFill>
              </a:rPr>
              <a:t>LightGBM</a:t>
            </a:r>
            <a:r>
              <a:rPr sz="880" dirty="0">
                <a:solidFill>
                  <a:srgbClr val="475569"/>
                </a:solidFill>
              </a:rPr>
              <a:t> classifier + Log-Gamma GLM); Quasi-Poisson.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Tree Engine: </a:t>
            </a:r>
            <a:r>
              <a:rPr sz="880" dirty="0" err="1">
                <a:solidFill>
                  <a:srgbClr val="475569"/>
                </a:solidFill>
              </a:rPr>
              <a:t>LightGBM</a:t>
            </a:r>
            <a:r>
              <a:rPr sz="880" dirty="0">
                <a:solidFill>
                  <a:srgbClr val="475569"/>
                </a:solidFill>
              </a:rPr>
              <a:t> gradient boosting backend with early stopping and zero-partition safety guards.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371600"/>
            <a:ext cx="5349240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94092" y="1504188"/>
            <a:ext cx="2743200" cy="237744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tlCol="0" anchor="ctr"/>
          <a:lstStyle/>
          <a:p>
            <a:pPr algn="ctr">
              <a:defRPr sz="850" b="1">
                <a:solidFill>
                  <a:srgbClr val="0D9488"/>
                </a:solidFill>
              </a:defRPr>
            </a:pPr>
            <a:r>
              <a:rPr dirty="0"/>
              <a:t>CONTROLLED EXPERIMENTAL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927306"/>
            <a:ext cx="4983480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172A"/>
                </a:solidFill>
                <a:latin typeface="Arial"/>
              </a:defRPr>
            </a:pPr>
            <a:r>
              <a:rPr dirty="0"/>
              <a:t>6 Controlled Synthetic DGP Scenarios (N=20,000)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null &amp; homogeneous: </a:t>
            </a:r>
            <a:r>
              <a:rPr sz="880" dirty="0">
                <a:solidFill>
                  <a:srgbClr val="475569"/>
                </a:solidFill>
              </a:rPr>
              <a:t>Negative control sanity checks with tau=0 and uniform additive lift across all customer covariate profiles.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</a:t>
            </a:r>
            <a:r>
              <a:rPr sz="919" b="1" dirty="0" err="1">
                <a:solidFill>
                  <a:srgbClr val="0F172A"/>
                </a:solidFill>
              </a:rPr>
              <a:t>extensive_only</a:t>
            </a:r>
            <a:r>
              <a:rPr sz="919" b="1" dirty="0">
                <a:solidFill>
                  <a:srgbClr val="0F172A"/>
                </a:solidFill>
              </a:rPr>
              <a:t>: </a:t>
            </a:r>
            <a:r>
              <a:rPr sz="880" dirty="0">
                <a:solidFill>
                  <a:srgbClr val="475569"/>
                </a:solidFill>
              </a:rPr>
              <a:t>Treatment strictly shifts conversion probability P(Y&gt;0); basket distribution conditional on buying is completely invariant.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</a:t>
            </a:r>
            <a:r>
              <a:rPr sz="919" b="1" dirty="0" err="1">
                <a:solidFill>
                  <a:srgbClr val="0F172A"/>
                </a:solidFill>
              </a:rPr>
              <a:t>intensive_only</a:t>
            </a:r>
            <a:r>
              <a:rPr sz="919" b="1" dirty="0">
                <a:solidFill>
                  <a:srgbClr val="0F172A"/>
                </a:solidFill>
              </a:rPr>
              <a:t>: </a:t>
            </a:r>
            <a:r>
              <a:rPr sz="880" dirty="0">
                <a:solidFill>
                  <a:srgbClr val="475569"/>
                </a:solidFill>
              </a:rPr>
              <a:t>Conversion rate is fixed; treatment strictly increases conditional spend magnitude.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opposing (Stress Test): </a:t>
            </a:r>
            <a:r>
              <a:rPr sz="880" dirty="0">
                <a:solidFill>
                  <a:srgbClr val="475569"/>
                </a:solidFill>
              </a:rPr>
              <a:t>Segment A has positive extensive lift / negative intensive lift; Segment B has opposite. Direct test of rank inversion.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correlated: </a:t>
            </a:r>
            <a:r>
              <a:rPr sz="880" dirty="0">
                <a:solidFill>
                  <a:srgbClr val="475569"/>
                </a:solidFill>
              </a:rPr>
              <a:t>Realistic joint dependence between customer conversion probability and basket expenditure.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941064"/>
            <a:ext cx="5349240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943100" y="4078224"/>
            <a:ext cx="2560320" cy="237744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rPr dirty="0"/>
              <a:t>EMPIRICAL EVALUATION SUITES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94860"/>
            <a:ext cx="4983480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172A"/>
                </a:solidFill>
                <a:latin typeface="Arial"/>
              </a:defRPr>
            </a:pPr>
            <a:r>
              <a:rPr dirty="0"/>
              <a:t>Hillstrom Trial &amp; Criteo Semi-Synthetic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Hillstrom Marketing Trial (N=64,000): </a:t>
            </a:r>
            <a:r>
              <a:rPr sz="880" dirty="0">
                <a:solidFill>
                  <a:srgbClr val="475569"/>
                </a:solidFill>
              </a:rPr>
              <a:t>Genuine randomized email trial: Men's Campaign (N=42,613) and Women's Campaign (N=42,693) vs uncontacted control (N=21,307). 99.1% zeros; 0.9% buyer conversion rate.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Out-of-Fold Policy Evaluation: </a:t>
            </a:r>
            <a:r>
              <a:rPr sz="880" dirty="0">
                <a:solidFill>
                  <a:srgbClr val="475569"/>
                </a:solidFill>
              </a:rPr>
              <a:t>Repeated 5-fold cross-validation estimating real dollar policy value across continuous budgets k in [0.01, 0.50] and scales a in [10^-3, 10^3].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Criteo Uplift v2.1 Benchmark (N=200,000): </a:t>
            </a:r>
            <a:r>
              <a:rPr sz="880" dirty="0">
                <a:solidFill>
                  <a:srgbClr val="475569"/>
                </a:solidFill>
              </a:rPr>
              <a:t>12 real ad features, realistic propensity distributions, paired with controlled zero-heavy spend with diverging margin DGPs.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931920"/>
            <a:ext cx="5349240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685532" y="4105656"/>
            <a:ext cx="2560320" cy="237744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tlCol="0" anchor="ctr"/>
          <a:lstStyle/>
          <a:p>
            <a:pPr algn="ctr">
              <a:defRPr sz="850" b="1">
                <a:solidFill>
                  <a:srgbClr val="E11D48"/>
                </a:solidFill>
              </a:defRPr>
            </a:pPr>
            <a:r>
              <a:rPr dirty="0"/>
              <a:t>TEST SUITE &amp; QUALITY 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560362"/>
            <a:ext cx="4983480" cy="1892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0F172A"/>
                </a:solidFill>
                <a:latin typeface="Arial"/>
              </a:defRPr>
            </a:pPr>
            <a:r>
              <a:rPr dirty="0"/>
              <a:t>98 / 98 Tests Passing &amp; Full Verification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Full Test Coverage: </a:t>
            </a:r>
            <a:r>
              <a:rPr sz="880" dirty="0">
                <a:solidFill>
                  <a:srgbClr val="475569"/>
                </a:solidFill>
              </a:rPr>
              <a:t>98 passing unit tests across tests/test_dgp.py, tests/test_models.py, tests/test_metrics.py, and tests/test_analysis.py.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Negative Controls Validated: </a:t>
            </a:r>
            <a:r>
              <a:rPr sz="880" dirty="0">
                <a:solidFill>
                  <a:srgbClr val="475569"/>
                </a:solidFill>
              </a:rPr>
              <a:t>Power transform (sqrt) and rank percentiles strictly achieve rank stability rho = 1.0000 across all random seeds (scale-equivariant by proof).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Zero-Partition Numerical Safety: </a:t>
            </a:r>
            <a:r>
              <a:rPr sz="880" dirty="0">
                <a:solidFill>
                  <a:srgbClr val="475569"/>
                </a:solidFill>
              </a:rPr>
              <a:t>Hardened Tweedie, Hurdle, and Poisson models to safely handle edge-case CV partitions with zero positive buyers.</a:t>
            </a:r>
          </a:p>
          <a:p>
            <a:pPr>
              <a:spcAft>
                <a:spcPts val="300"/>
              </a:spcAft>
            </a:pPr>
            <a:r>
              <a:rPr sz="919" b="1" dirty="0">
                <a:solidFill>
                  <a:srgbClr val="0F172A"/>
                </a:solidFill>
              </a:rPr>
              <a:t>• Git Remote Synced: </a:t>
            </a:r>
            <a:r>
              <a:rPr sz="880" dirty="0">
                <a:solidFill>
                  <a:srgbClr val="475569"/>
                </a:solidFill>
              </a:rPr>
              <a:t>Full codebase clean, documented, and pushed to GitHub branch q/engine (commit abf09c0).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146304"/>
            <a:ext cx="411480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27432" rtlCol="0" anchor="ctr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JACKFRUIT PROBLEM REVIEW | EMPIRICAL FINDINGS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34923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rPr dirty="0"/>
              <a:t>3. Result Plots: Empirical Breakdown &amp; Count-Aware Equivariance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Visualizing log1p rank collapse vs. exact scale-equivariance and superior policy value of Tweedie/Hurdle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201168"/>
            <a:ext cx="9144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 /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371600"/>
            <a:ext cx="54406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07592" y="1512086"/>
            <a:ext cx="507492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rPr dirty="0"/>
              <a:t>SYNTHETIC BENCHMARK: RANK STABILITY vs. SCALE a</a:t>
            </a:r>
          </a:p>
        </p:txBody>
      </p:sp>
      <p:pic>
        <p:nvPicPr>
          <p:cNvPr id="12" name="Picture 11" descr="fig2_rank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747" y="1853323"/>
            <a:ext cx="3703320" cy="22585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8557" y="4171327"/>
            <a:ext cx="4734098" cy="950977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E11D48"/>
                </a:solidFill>
                <a:latin typeface="Arial"/>
              </a:defRPr>
            </a:pPr>
            <a:r>
              <a:rPr dirty="0"/>
              <a:t>Key Finding 1 (Synthetic Rank Collapse &amp; Equivariance):</a:t>
            </a:r>
          </a:p>
          <a:p>
            <a:pPr>
              <a:spcAft>
                <a:spcPts val="200"/>
              </a:spcAft>
            </a:pPr>
            <a:r>
              <a:rPr sz="880" b="1" dirty="0">
                <a:solidFill>
                  <a:srgbClr val="0F172A"/>
                </a:solidFill>
              </a:rPr>
              <a:t>• log1p Collapses: </a:t>
            </a:r>
            <a:r>
              <a:rPr sz="850" dirty="0">
                <a:solidFill>
                  <a:srgbClr val="475569"/>
                </a:solidFill>
              </a:rPr>
              <a:t>In extensive and opposing scenarios, Spearman rho drops to 0.566 with only 35.8% top-20% overlap as scale 'a' shifts from 1 to 0.01 or 100.</a:t>
            </a:r>
          </a:p>
          <a:p>
            <a:r>
              <a:rPr sz="880" b="1" dirty="0">
                <a:solidFill>
                  <a:srgbClr val="0F172A"/>
                </a:solidFill>
              </a:rPr>
              <a:t>• Count-Aware Invariance: </a:t>
            </a:r>
            <a:r>
              <a:rPr sz="850" dirty="0">
                <a:solidFill>
                  <a:srgbClr val="475569"/>
                </a:solidFill>
              </a:rPr>
              <a:t>Tweedie and Hurdle maintain perfect rho = 1.0000 across all scales by construction.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71600"/>
            <a:ext cx="54406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48272" y="1522476"/>
            <a:ext cx="507492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rPr dirty="0"/>
              <a:t>REAL-WORLD FIELD TRIAL: HILLSTROM POLICY VALUE ($/USER)</a:t>
            </a:r>
          </a:p>
        </p:txBody>
      </p:sp>
      <p:pic>
        <p:nvPicPr>
          <p:cNvPr id="16" name="Picture 15" descr="fig3_policy_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20241"/>
            <a:ext cx="5029200" cy="20391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451092" y="4093604"/>
            <a:ext cx="4937760" cy="1078992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0D9488"/>
                </a:solidFill>
                <a:latin typeface="Arial"/>
              </a:defRPr>
            </a:pPr>
            <a:r>
              <a:rPr dirty="0"/>
              <a:t>Key Finding 2 (Real-World Dollar Performance):</a:t>
            </a:r>
          </a:p>
          <a:p>
            <a:pPr>
              <a:spcAft>
                <a:spcPts val="200"/>
              </a:spcAft>
            </a:pPr>
            <a:r>
              <a:rPr sz="880" b="1" dirty="0">
                <a:solidFill>
                  <a:srgbClr val="0F172A"/>
                </a:solidFill>
              </a:rPr>
              <a:t>• High Turnover Under log1p: </a:t>
            </a:r>
            <a:r>
              <a:rPr sz="850" dirty="0">
                <a:solidFill>
                  <a:srgbClr val="475569"/>
                </a:solidFill>
              </a:rPr>
              <a:t>Shifting a=1 to a=0.01 replaces ~48.2% of targeted customers, creating massive marketing drift.</a:t>
            </a:r>
          </a:p>
          <a:p>
            <a:r>
              <a:rPr sz="880" b="1" dirty="0">
                <a:solidFill>
                  <a:srgbClr val="0F172A"/>
                </a:solidFill>
              </a:rPr>
              <a:t>• Tweedie Dominates: </a:t>
            </a:r>
            <a:r>
              <a:rPr sz="850" dirty="0">
                <a:solidFill>
                  <a:srgbClr val="475569"/>
                </a:solidFill>
              </a:rPr>
              <a:t>Tweedie attains peak policy value ($0.8566 / user at k=0.20), outperforming transformed baselines (+$0.12/user).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68112"/>
            <a:ext cx="3520440" cy="868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250" b="1">
                <a:solidFill>
                  <a:srgbClr val="E11D48"/>
                </a:solidFill>
                <a:latin typeface="Arial"/>
              </a:defRPr>
            </a:pPr>
            <a:r>
              <a:t>48.2% TARGETING CHURN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Top 20% targeted customers replaced under log1p merely by scaling dollars to cents.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5468112"/>
            <a:ext cx="352044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250" b="1">
                <a:solidFill>
                  <a:srgbClr val="0D9488"/>
                </a:solidFill>
                <a:latin typeface="Arial"/>
              </a:defRPr>
            </a:pPr>
            <a:r>
              <a:t>rho = 1.0000 EQUIVARIANCE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Tweedie &amp; Hurdle count-aware models maintain 100% targeting stability across all scales.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5468112"/>
            <a:ext cx="352044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1250" b="1">
                <a:solidFill>
                  <a:srgbClr val="2563EB"/>
                </a:solidFill>
                <a:latin typeface="Arial"/>
              </a:defRPr>
            </a:pPr>
            <a:r>
              <a:t>+$0.12 / USER INCREMENTAL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Tweedie achieves $0.8566 IPW policy value vs. $0.7302 level and $0.7831 log1p on Hillstrom.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F5A32D-26F1-168B-AA05-2E98174DDAF9}"/>
              </a:ext>
            </a:extLst>
          </p:cNvPr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6649"/>
            <a:ext cx="1219169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146304"/>
            <a:ext cx="411480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27432" rtlCol="0" anchor="ctr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JACKFRUIT PROBLEM REVIEW | FINALIZATION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7345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rPr dirty="0"/>
              <a:t>4. Remaining Work: Execution Roadmap to Final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9536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475569"/>
                </a:solidFill>
                <a:latin typeface="Arial"/>
              </a:defRPr>
            </a:pPr>
            <a:r>
              <a:t>Completing simulation grids, sensitivity sweeps, manuscript writeup, and defense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201168"/>
            <a:ext cx="9144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 /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35204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79576" y="1674396"/>
            <a:ext cx="2377440" cy="256032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PHASE 1 | SIMULATION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33223"/>
            <a:ext cx="3154680" cy="340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Production Monte Carlo &amp; Grids</a:t>
            </a:r>
          </a:p>
          <a:p>
            <a:pPr>
              <a:spcAft>
                <a:spcPts val="450"/>
              </a:spcAft>
            </a:pPr>
            <a:r>
              <a:rPr sz="1200" b="1" dirty="0">
                <a:solidFill>
                  <a:srgbClr val="0F172A"/>
                </a:solidFill>
              </a:rPr>
              <a:t>• Stage 1 Production Completion: </a:t>
            </a:r>
            <a:r>
              <a:rPr sz="1200" dirty="0">
                <a:solidFill>
                  <a:srgbClr val="475569"/>
                </a:solidFill>
              </a:rPr>
              <a:t>Complete remaining replications of the full 6 x 4 x 5 factorial grid (76+ replications already finished and logged; running in parallel background).</a:t>
            </a:r>
          </a:p>
          <a:p>
            <a:pPr>
              <a:spcAft>
                <a:spcPts val="450"/>
              </a:spcAft>
            </a:pPr>
            <a:r>
              <a:rPr sz="1200" b="1" dirty="0">
                <a:solidFill>
                  <a:srgbClr val="0F172A"/>
                </a:solidFill>
              </a:rPr>
              <a:t>• Error Ribbon Aggregation: </a:t>
            </a:r>
            <a:r>
              <a:rPr sz="1200" dirty="0">
                <a:solidFill>
                  <a:srgbClr val="475569"/>
                </a:solidFill>
              </a:rPr>
              <a:t>Aggregate cross-replication standard deviations across all 6 scenarios to render final confidence bands for publication figures.</a:t>
            </a:r>
          </a:p>
          <a:p>
            <a:pPr>
              <a:spcAft>
                <a:spcPts val="450"/>
              </a:spcAft>
            </a:pPr>
            <a:r>
              <a:rPr sz="1200" b="1" dirty="0">
                <a:solidFill>
                  <a:srgbClr val="0F172A"/>
                </a:solidFill>
              </a:rPr>
              <a:t>• Stage 2 Sparsity Sweeps: </a:t>
            </a:r>
            <a:r>
              <a:rPr sz="1200" dirty="0">
                <a:solidFill>
                  <a:srgbClr val="475569"/>
                </a:solidFill>
              </a:rPr>
              <a:t>Execute parameter sweep across baseline zero proportions (p0 in {0.70, 0.90, 0.98}) to map the exact threshold where log1p instability breaks down.</a:t>
            </a:r>
          </a:p>
          <a:p>
            <a:pPr>
              <a:spcAft>
                <a:spcPts val="450"/>
              </a:spcAft>
            </a:pPr>
            <a:r>
              <a:rPr sz="1200" b="1" dirty="0">
                <a:solidFill>
                  <a:srgbClr val="0F172A"/>
                </a:solidFill>
              </a:rPr>
              <a:t>• Heavy-Tail Stress Testing: </a:t>
            </a:r>
            <a:r>
              <a:rPr sz="1200" dirty="0">
                <a:solidFill>
                  <a:srgbClr val="475569"/>
                </a:solidFill>
              </a:rPr>
              <a:t>Evaluate Pareto tail index alpha in {1.5, 2.5} to demonstrate vulnerability of transformed models to high-spend whales.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371600"/>
            <a:ext cx="35204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911575" y="1658602"/>
            <a:ext cx="2560320" cy="256032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tlCol="0" anchor="ctr"/>
          <a:lstStyle/>
          <a:p>
            <a:pPr algn="ctr">
              <a:defRPr sz="850" b="1">
                <a:solidFill>
                  <a:srgbClr val="0D9488"/>
                </a:solidFill>
              </a:defRPr>
            </a:pPr>
            <a:r>
              <a:t>PHASE 2 | EMPIRICAL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269648"/>
            <a:ext cx="3154680" cy="3223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Criteo Benchmark &amp; Robustness</a:t>
            </a:r>
          </a:p>
          <a:p>
            <a:pPr>
              <a:spcAft>
                <a:spcPts val="450"/>
              </a:spcAft>
            </a:pPr>
            <a:r>
              <a:rPr sz="1200" b="1" dirty="0">
                <a:solidFill>
                  <a:srgbClr val="0F172A"/>
                </a:solidFill>
              </a:rPr>
              <a:t>• Criteo 200k Pipeline Execution: </a:t>
            </a:r>
            <a:r>
              <a:rPr sz="1200" dirty="0">
                <a:solidFill>
                  <a:srgbClr val="475569"/>
                </a:solidFill>
              </a:rPr>
              <a:t>Run full cross-fitted DR-Learner and Hurdle pipelines across the high-dimensional Criteo semi-synthetic benchmark (12 features, N=200,000).</a:t>
            </a:r>
          </a:p>
          <a:p>
            <a:pPr>
              <a:spcAft>
                <a:spcPts val="450"/>
              </a:spcAft>
            </a:pPr>
            <a:r>
              <a:rPr sz="1200" b="1" dirty="0">
                <a:solidFill>
                  <a:srgbClr val="0F172A"/>
                </a:solidFill>
              </a:rPr>
              <a:t>• Propensity Trimming Sensitivity: </a:t>
            </a:r>
            <a:r>
              <a:rPr sz="1200" dirty="0">
                <a:solidFill>
                  <a:srgbClr val="475569"/>
                </a:solidFill>
              </a:rPr>
              <a:t>Test whether extreme propensity weights (e(X) &lt; 0.01 or &gt; 0.99) amplify transformation sensitivity in Doubly Robust pseudo-outcomes.</a:t>
            </a:r>
          </a:p>
          <a:p>
            <a:pPr>
              <a:spcAft>
                <a:spcPts val="450"/>
              </a:spcAft>
            </a:pPr>
            <a:r>
              <a:rPr sz="1200" b="1" dirty="0">
                <a:solidFill>
                  <a:srgbClr val="0F172A"/>
                </a:solidFill>
              </a:rPr>
              <a:t>• Bootstrap Significance Tests: </a:t>
            </a:r>
            <a:r>
              <a:rPr sz="1200" dirty="0">
                <a:solidFill>
                  <a:srgbClr val="475569"/>
                </a:solidFill>
              </a:rPr>
              <a:t>Calculate 95% confidence intervals and p-values for difference in policy value between Tweedie vs log1p on Hillstrom test splits.</a:t>
            </a:r>
          </a:p>
          <a:p>
            <a:pPr>
              <a:spcAft>
                <a:spcPts val="450"/>
              </a:spcAft>
            </a:pPr>
            <a:r>
              <a:rPr sz="1200" b="1" dirty="0">
                <a:solidFill>
                  <a:srgbClr val="0F172A"/>
                </a:solidFill>
              </a:rPr>
              <a:t>• Alternative Baselines: </a:t>
            </a:r>
            <a:r>
              <a:rPr sz="1200" dirty="0">
                <a:solidFill>
                  <a:srgbClr val="475569"/>
                </a:solidFill>
              </a:rPr>
              <a:t>Benchmark against inverse hyperbolic sine (</a:t>
            </a:r>
            <a:r>
              <a:rPr sz="1200" dirty="0" err="1">
                <a:solidFill>
                  <a:srgbClr val="475569"/>
                </a:solidFill>
              </a:rPr>
              <a:t>asinh</a:t>
            </a:r>
            <a:r>
              <a:rPr sz="1200" dirty="0">
                <a:solidFill>
                  <a:srgbClr val="475569"/>
                </a:solidFill>
              </a:rPr>
              <a:t>) and rank-transformed DR learners.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371600"/>
            <a:ext cx="35204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99932" y="1668780"/>
            <a:ext cx="2560320" cy="256032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PHASE 3 | REPORT &amp; SUBMISSION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78407"/>
            <a:ext cx="3154680" cy="2580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200" dirty="0"/>
              <a:t>Report Finalization &amp; Saturday EOD</a:t>
            </a:r>
          </a:p>
          <a:p>
            <a:pPr>
              <a:spcAft>
                <a:spcPts val="350"/>
              </a:spcAft>
            </a:pPr>
            <a:r>
              <a:rPr sz="1200" b="1" dirty="0">
                <a:solidFill>
                  <a:srgbClr val="0F172A"/>
                </a:solidFill>
              </a:rPr>
              <a:t>• LaTeX Manuscript (report/</a:t>
            </a:r>
            <a:r>
              <a:rPr sz="1200" b="1" dirty="0" err="1">
                <a:solidFill>
                  <a:srgbClr val="0F172A"/>
                </a:solidFill>
              </a:rPr>
              <a:t>main.tex</a:t>
            </a:r>
            <a:r>
              <a:rPr sz="1200" b="1" dirty="0">
                <a:solidFill>
                  <a:srgbClr val="0F172A"/>
                </a:solidFill>
              </a:rPr>
              <a:t>): </a:t>
            </a:r>
            <a:r>
              <a:rPr sz="1200" dirty="0">
                <a:solidFill>
                  <a:srgbClr val="475569"/>
                </a:solidFill>
              </a:rPr>
              <a:t>Finalize Section 5 (Practical Decision Guide for Industry) and Appendix asymptotic proofs (a -&gt; 0 and a -&gt; inf). Verify 16 academic references and compile clean camera-ready PDF.</a:t>
            </a:r>
          </a:p>
          <a:p>
            <a:pPr>
              <a:spcAft>
                <a:spcPts val="350"/>
              </a:spcAft>
            </a:pPr>
            <a:r>
              <a:rPr sz="1200" b="1" dirty="0">
                <a:solidFill>
                  <a:srgbClr val="0F172A"/>
                </a:solidFill>
              </a:rPr>
              <a:t>• One-Command Reproduction Bundle: </a:t>
            </a:r>
            <a:r>
              <a:rPr sz="1200" dirty="0">
                <a:solidFill>
                  <a:srgbClr val="475569"/>
                </a:solidFill>
              </a:rPr>
              <a:t>Verify clean replication pipeline (make reproduce / run_all.sh) ensuring deterministic reproducibility across seeds.</a:t>
            </a:r>
          </a:p>
          <a:p>
            <a:pPr>
              <a:spcAft>
                <a:spcPts val="350"/>
              </a:spcAft>
            </a:pPr>
            <a:r>
              <a:rPr sz="1200" b="1" dirty="0">
                <a:solidFill>
                  <a:srgbClr val="0F172A"/>
                </a:solidFill>
              </a:rPr>
              <a:t>• GitHub Release &amp; Code Freeze: </a:t>
            </a:r>
            <a:r>
              <a:rPr sz="1200" dirty="0">
                <a:solidFill>
                  <a:srgbClr val="475569"/>
                </a:solidFill>
              </a:rPr>
              <a:t>Push final commits and tag release on branch q/engine (https://github.com/pallaviB463/Rescaled.git).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1693</Words>
  <Application>Microsoft Office PowerPoint</Application>
  <PresentationFormat>Widescreen</PresentationFormat>
  <Paragraphs>91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Pallavi B</dc:creator>
  <cp:keywords/>
  <dc:description>generated using python-pptx</dc:description>
  <cp:lastModifiedBy>Pallavi B</cp:lastModifiedBy>
  <cp:revision>2</cp:revision>
  <dcterms:created xsi:type="dcterms:W3CDTF">2013-01-27T09:14:16Z</dcterms:created>
  <dcterms:modified xsi:type="dcterms:W3CDTF">2026-10-31T09:04:23Z</dcterms:modified>
  <cp:category/>
</cp:coreProperties>
</file>